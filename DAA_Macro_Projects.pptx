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I" id="{1af6c0c0-9357-bcbf-56a5-200194a97189}">
          <p14:sldIdLst>
            <p14:sldId id="257"/>
            <p14:sldId id="258"/>
            <p14:sldId id="259"/>
            <p14:sldId id="260"/>
            <p14:sldId id="261"/>
          </p14:sldIdLst>
        </p14:section>
        <p14:section name="Unit II" id="{606a1852-dad2-fa39-334e-4d82210cabd6}">
          <p14:sldIdLst>
            <p14:sldId id="262"/>
            <p14:sldId id="263"/>
            <p14:sldId id="264"/>
            <p14:sldId id="265"/>
            <p14:sldId id="266"/>
          </p14:sldIdLst>
        </p14:section>
        <p14:section name="Unit III" id="{6b2fc244-20e4-f908-dd3e-ad7fceaf3769}">
          <p14:sldIdLst>
            <p14:sldId id="267"/>
            <p14:sldId id="268"/>
            <p14:sldId id="269"/>
            <p14:sldId id="270"/>
            <p14:sldId id="271"/>
          </p14:sldIdLst>
        </p14:section>
        <p14:section name="Unit IV" id="{5e23cafd-1ccd-8476-e76e-9f6902e23f20}">
          <p14:sldIdLst>
            <p14:sldId id="272"/>
            <p14:sldId id="273"/>
            <p14:sldId id="274"/>
            <p14:sldId id="275"/>
            <p14:sldId id="276"/>
          </p14:sldIdLst>
        </p14:section>
        <p14:section name="Unit V" id="{92c9f4a2-987d-e9bc-04c1-b5a8d4546a57}">
          <p14:sldIdLst>
            <p14:sldId id="277"/>
            <p14:sldId id="278"/>
            <p14:sldId id="279"/>
            <p14:sldId id="280"/>
            <p14:sldId id="281"/>
          </p14:sldIdLst>
        </p14:section>
        <p14:section name="Summary" id="{6ac331db-19fa-e06d-e5a8-1daf9d96b62b}">
          <p14:sldIdLst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4572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NIT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F9D8A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i="1" dirty="0">
                <a:solidFill>
                  <a:srgbClr val="CFE9E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F9D8A"/>
                </a:solidFill>
              </a:rPr>
              <a:t>DESIGN &amp; ANALYSIS OF ALGORITHMS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Macro Projects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9E5"/>
                </a:solidFill>
              </a:rPr>
              <a:t>One AI-visualised project from each unit: algorithm, pseudocode, complexity and diagram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931920"/>
            <a:ext cx="1481328" cy="640080"/>
          </a:xfrm>
          <a:prstGeom prst="roundRect">
            <a:avLst>
              <a:gd name="adj" fmla="val 14286"/>
            </a:avLst>
          </a:prstGeom>
          <a:solidFill>
            <a:srgbClr val="2B3A5E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Merge Sort Recursion Tree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04288" y="3931920"/>
            <a:ext cx="1481328" cy="640080"/>
          </a:xfrm>
          <a:prstGeom prst="roundRect">
            <a:avLst>
              <a:gd name="adj" fmla="val 14286"/>
            </a:avLst>
          </a:prstGeom>
          <a:solidFill>
            <a:srgbClr val="2B3A5E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Greedy Job Sequencing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77056" y="3931920"/>
            <a:ext cx="1481328" cy="640080"/>
          </a:xfrm>
          <a:prstGeom prst="roundRect">
            <a:avLst>
              <a:gd name="adj" fmla="val 14286"/>
            </a:avLst>
          </a:prstGeom>
          <a:solidFill>
            <a:srgbClr val="2B3A5E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Floyd–Warshall Matrices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49824" y="3931920"/>
            <a:ext cx="1481328" cy="640080"/>
          </a:xfrm>
          <a:prstGeom prst="roundRect">
            <a:avLst>
              <a:gd name="adj" fmla="val 14286"/>
            </a:avLst>
          </a:prstGeom>
          <a:solidFill>
            <a:srgbClr val="2B3A5E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Sum of Subsets Tree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022592" y="3931920"/>
            <a:ext cx="1481328" cy="640080"/>
          </a:xfrm>
          <a:prstGeom prst="roundRect">
            <a:avLst>
              <a:gd name="adj" fmla="val 14286"/>
            </a:avLst>
          </a:prstGeom>
          <a:solidFill>
            <a:srgbClr val="2B3A5E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TSP Branch-and-Bound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9D8A"/>
                </a:solidFill>
              </a:rPr>
              <a:t>UNIT I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Unit I – Algorithm Analysis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9E5"/>
                </a:solidFill>
              </a:rPr>
              <a:t>Draw a recursion tree for Merge Sort dividing an array of 8 elements.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5669280" cy="457200"/>
          </a:xfrm>
          <a:prstGeom prst="round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Project: Recursion Tree for Merge Sort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Recursion Tree for Merge Sort: Concept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Merge Sort is a divide-and-conquer sorting algorithm: split the array in half, sort each half recursively, then merge the two sorted halves.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A recursion tree draws every recursive call as a node, so we can see how the problem shrinks level by level and how much work each level does.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For n = 8 the tree has log₂8 + 1 = 4 levels: sizes 8 → 4 → 2 → 1.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Merge Sort is stable and its running time is the same in best, average and worst cases.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14300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TIME COMPLEXITY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4475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O(n log n)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760720" y="202311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209626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SPACE COMPLEXITY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32486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O(n) auxiliary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760720" y="290322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29763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RECURRENCE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20497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T(n) = 2T(n/2) + 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378333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385648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TREE DEPTH (n = 8)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408508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 levels (3 splits)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Merge Sort: Process &amp; Algorithm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4300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Divide: find the midpoint and split the array into two halves.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3794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Conquer: recursively sort the left half.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3288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Conquer: recursively sort the right half.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2278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Base case: a subarray of size 1 is already sorted.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92277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Combine: merge two sorted halves using two pointers (n comparisons).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143000"/>
            <a:ext cx="3749040" cy="35204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PSEUDOCODE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MERGE-SORT(A, lo, hi)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lo &lt; hi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 = floor((lo + hi) / 2)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MERGE-SORT(A, lo, mid)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MERGE-SORT(A, mid + 1, hi)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MERGE(A, lo, mid, hi)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MERGE(A, lo, mid, hi)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copy halves into L and 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compare fronts of L and 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 the smaller back to 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Recursion Tree: Divide Phase (n = 8)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flipH="1">
            <a:off x="2514600" y="1645920"/>
            <a:ext cx="20574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645920"/>
            <a:ext cx="20574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485900" y="2514600"/>
            <a:ext cx="10287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514600"/>
            <a:ext cx="10287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5600700" y="2514600"/>
            <a:ext cx="10287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2514600"/>
            <a:ext cx="10287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97155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590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302895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508635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0070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714375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5810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1143000"/>
            <a:ext cx="8101584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38  27  43  3  9  82  10  5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" y="2011680"/>
            <a:ext cx="3986784" cy="502920"/>
          </a:xfrm>
          <a:prstGeom prst="roundRect">
            <a:avLst>
              <a:gd name="adj" fmla="val 18182"/>
            </a:avLst>
          </a:prstGeom>
          <a:solidFill>
            <a:srgbClr val="2B4C8C"/>
          </a:solidFill>
          <a:ln w="12700">
            <a:solidFill>
              <a:srgbClr val="2B4C8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38  27  43  3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36008" y="2011680"/>
            <a:ext cx="3986784" cy="502920"/>
          </a:xfrm>
          <a:prstGeom prst="roundRect">
            <a:avLst>
              <a:gd name="adj" fmla="val 18182"/>
            </a:avLst>
          </a:prstGeom>
          <a:solidFill>
            <a:srgbClr val="2B4C8C"/>
          </a:solidFill>
          <a:ln w="12700">
            <a:solidFill>
              <a:srgbClr val="2B4C8C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9  82  10  5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" y="2880360"/>
            <a:ext cx="1929384" cy="502920"/>
          </a:xfrm>
          <a:prstGeom prst="roundRect">
            <a:avLst>
              <a:gd name="adj" fmla="val 18182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38  27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78608" y="2880360"/>
            <a:ext cx="1929384" cy="502920"/>
          </a:xfrm>
          <a:prstGeom prst="roundRect">
            <a:avLst>
              <a:gd name="adj" fmla="val 18182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43  3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36008" y="2880360"/>
            <a:ext cx="1929384" cy="502920"/>
          </a:xfrm>
          <a:prstGeom prst="roundRect">
            <a:avLst>
              <a:gd name="adj" fmla="val 18182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9  82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93408" y="2880360"/>
            <a:ext cx="1929384" cy="502920"/>
          </a:xfrm>
          <a:prstGeom prst="roundRect">
            <a:avLst>
              <a:gd name="adj" fmla="val 18182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10  5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499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786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073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360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47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934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221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</a:rPr>
              <a:t>Level k has 2ᵏ subarrays of size 8/2ᵏ. Splitting stops at size 1, after 3 levels of division (log₂ 8 = 3).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Recursion Tree: Merge Phase (sorted results)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flipH="1">
            <a:off x="2514600" y="1645920"/>
            <a:ext cx="20574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645920"/>
            <a:ext cx="20574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1485900" y="2514600"/>
            <a:ext cx="10287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514600"/>
            <a:ext cx="10287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5600700" y="2514600"/>
            <a:ext cx="10287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2514600"/>
            <a:ext cx="102870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97155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8590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H="1">
            <a:off x="302895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508635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0070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714375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58100" y="3383280"/>
            <a:ext cx="514350" cy="36576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1143000"/>
            <a:ext cx="8101584" cy="502920"/>
          </a:xfrm>
          <a:prstGeom prst="roundRect">
            <a:avLst>
              <a:gd name="adj" fmla="val 18182"/>
            </a:avLst>
          </a:prstGeom>
          <a:solidFill>
            <a:srgbClr val="2E9E5B"/>
          </a:solidFill>
          <a:ln w="12700">
            <a:solidFill>
              <a:srgbClr val="2E9E5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3  5  9  10  27  38  43  82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21208" y="2011680"/>
            <a:ext cx="3986784" cy="502920"/>
          </a:xfrm>
          <a:prstGeom prst="roundRect">
            <a:avLst>
              <a:gd name="adj" fmla="val 18182"/>
            </a:avLst>
          </a:prstGeom>
          <a:solidFill>
            <a:srgbClr val="2E8C7A"/>
          </a:solidFill>
          <a:ln w="12700">
            <a:solidFill>
              <a:srgbClr val="2E8C7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3  27  38  43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636008" y="2011680"/>
            <a:ext cx="3986784" cy="502920"/>
          </a:xfrm>
          <a:prstGeom prst="roundRect">
            <a:avLst>
              <a:gd name="adj" fmla="val 18182"/>
            </a:avLst>
          </a:prstGeom>
          <a:solidFill>
            <a:srgbClr val="2E8C7A"/>
          </a:solidFill>
          <a:ln w="12700">
            <a:solidFill>
              <a:srgbClr val="2E8C7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5  9  10  82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1208" y="2880360"/>
            <a:ext cx="19293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27  38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78608" y="2880360"/>
            <a:ext cx="19293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3  43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636008" y="2880360"/>
            <a:ext cx="19293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9  82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93408" y="2880360"/>
            <a:ext cx="1929384" cy="502920"/>
          </a:xfrm>
          <a:prstGeom prst="roundRect">
            <a:avLst>
              <a:gd name="adj" fmla="val 18182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5  10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212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499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5786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073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360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47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82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934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22108" y="3749040"/>
            <a:ext cx="900684" cy="502920"/>
          </a:xfrm>
          <a:prstGeom prst="roundRect">
            <a:avLst>
              <a:gd name="adj" fmla="val 18182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</a:rPr>
              <a:t>Merging back up: every level merges n = 8 elements (≈ 8 comparisons). 3 merge levels × 8 = 24, i.e. O(n log n). Sorted: 3 5 9 10 27 38 43 82.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9D8A"/>
                </a:solidFill>
              </a:rPr>
              <a:t>UNIT II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Unit II – Divide and Conquer / Greedy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9E5"/>
                </a:solidFill>
              </a:rPr>
              <a:t>Create a flow diagram showing job selection based on deadlines and profits.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5669280" cy="457200"/>
          </a:xfrm>
          <a:prstGeom prst="round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Project: Greedy Job Sequencing Flowchart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Job Sequencing with Deadlines: Concept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Given n jobs, each takes one unit of time and has a deadline and a profit. Pick and order a subset that meets deadlines and maximises total profit.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Greedy choice: consider jobs in decreasing order of profit.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Place each job in the latest free time slot on or before its deadline; if no slot is free, reject the job.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Locally best choices lead to the optimal schedule for this problem.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14300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TIME COMPLEXITY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4475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O(n²)  (O(n log n) with DSU)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202311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209626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SPACE COMPLEXITY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32486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O(n) slot array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290322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29763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GREEDY RULE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20497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Highest profit first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378333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385648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TECHNIQUE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408508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Greedy algorithm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Job Sequencing: Process &amp; Algorithm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4300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Sort all jobs by profit in descending order.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3794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Create slots 1 … maxDeadline, all empty.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3288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For each job, scan slots from its deadline down to 1.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2278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If a free slot exists, assign the job and add its profit.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92277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Otherwise reject the job. Output the schedule and profit.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143000"/>
            <a:ext cx="3749040" cy="35204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PSEUDOCODE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JOB-SEQUENCING(jobs, 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sort jobs by profit (desc)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slot[1..maxD] = empty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profit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job j in order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s = min(maxD, d[j]) to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slot[s] is empty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slot[s] = j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profit += p[j]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slot, profit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Job Selection Flowchart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234440"/>
            <a:ext cx="1005840" cy="548640"/>
          </a:xfrm>
          <a:prstGeom prst="ellipse">
            <a:avLst>
              <a:gd name="adj" fmla="val 16667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554480" y="11887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Sort jobs by profit (high to low)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91840" y="1188720"/>
            <a:ext cx="1371600" cy="640080"/>
          </a:xfrm>
          <a:prstGeom prst="roundRect">
            <a:avLst>
              <a:gd name="adj" fmla="val 14286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Take next job j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0" y="914400"/>
            <a:ext cx="2194560" cy="1188720"/>
          </a:xfrm>
          <a:prstGeom prst="diamond">
            <a:avLst>
              <a:gd name="adj" fmla="val 7692"/>
            </a:avLst>
          </a:prstGeom>
          <a:solidFill>
            <a:srgbClr val="E8912D"/>
          </a:solidFill>
          <a:ln w="12700">
            <a:solidFill>
              <a:srgbClr val="E8912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Free slot ≤ deadline(j)?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120640" y="27432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2E9E5B"/>
          </a:solidFill>
          <a:ln w="12700">
            <a:solidFill>
              <a:srgbClr val="2E9E5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Assign j to latest free slot; add profit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0" y="274320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Reject job j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3931920"/>
            <a:ext cx="2377440" cy="548640"/>
          </a:xfrm>
          <a:prstGeom prst="roundRect">
            <a:avLst>
              <a:gd name="adj" fmla="val 16667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More jobs left?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 schedule and total profit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1508760"/>
            <a:ext cx="274320" cy="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017520" y="1508760"/>
            <a:ext cx="274320" cy="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1508760"/>
            <a:ext cx="365760" cy="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126480" y="2103120"/>
            <a:ext cx="0" cy="6400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23760" y="1508760"/>
            <a:ext cx="868680" cy="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508760"/>
            <a:ext cx="0" cy="123444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26480" y="3429000"/>
            <a:ext cx="0" cy="50292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92440" y="3429000"/>
            <a:ext cx="0" cy="77724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7132320" y="4206240"/>
            <a:ext cx="960120" cy="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3977640" y="4069080"/>
            <a:ext cx="777240" cy="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977640" y="1828800"/>
            <a:ext cx="0" cy="22402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3383280" y="4343400"/>
            <a:ext cx="1371600" cy="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21792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9E5B"/>
                </a:solidFill>
              </a:rPr>
              <a:t>Yes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126187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</a:rPr>
              <a:t>No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069080" y="3017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Yes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43891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No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48840"/>
          <a:ext cx="310896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Job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Worked Trace: Which Jobs Get Selected?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822960"/>
                <a:gridCol w="1097280"/>
                <a:gridCol w="1005840"/>
                <a:gridCol w="44805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Order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Job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Profit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Slot 2 free → assigned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Slot 2 taken, slot 1 free → assigned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</a:rPr>
                        <a:t>Slot 1 taken → rejected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</a:rPr>
                        <a:t>Slot 1 taken → rejected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J5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Slot 3 free → assigned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011680" y="3840480"/>
            <a:ext cx="1645920" cy="457200"/>
          </a:xfrm>
          <a:prstGeom prst="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J3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201168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575"/>
                </a:solidFill>
              </a:rPr>
              <a:t>Slot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749040" y="3840480"/>
            <a:ext cx="1645920" cy="457200"/>
          </a:xfrm>
          <a:prstGeom prst="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374904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575"/>
                </a:solidFill>
              </a:rPr>
              <a:t>Slot 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0" y="3840480"/>
            <a:ext cx="1645920" cy="457200"/>
          </a:xfrm>
          <a:prstGeom prst="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J5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3566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575"/>
                </a:solidFill>
              </a:rPr>
              <a:t>Slot 3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</a:rPr>
              <a:t>Schedule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201168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E9E5B"/>
                </a:solidFill>
              </a:rPr>
              <a:t>Total profit = 100 + 27 + 15 = 142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9D8A"/>
                </a:solidFill>
              </a:rPr>
              <a:t>UNIT III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Unit III – Dynamic Programming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9E5"/>
                </a:solidFill>
              </a:rPr>
              <a:t>Show iterative updates of distance matrix in Floyd-Warshall algorithm.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5669280" cy="457200"/>
          </a:xfrm>
          <a:prstGeom prst="round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Project: All-Pairs Shortest Path Matrix Update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Floyd–Warshall: Concept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Finds the shortest distance between every pair of vertices in a weighted directed graph. Negative edges are fine; negative cycles are not.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Dynamic programming idea: Dᵏ[i][j] is the shortest i→j path that uses only vertices 1…k as intermediates.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For each k, ask: is it shorter to go through vertex k?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Dᵏ[i][j] = min( Dᵏ⁻¹[i][j], Dᵏ⁻¹[i][k] + Dᵏ⁻¹[k][j] 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14300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TIME COMPLEXITY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4475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O(V³)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760720" y="202311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209626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SPACE COMPLEXITY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32486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O(V²)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760720" y="290322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29763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SUBPROBLEMS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20497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 matrices D⁰ … Dᵛ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378333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385648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TECHNIQUE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408508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Dynamic programming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Floyd–Warshall: Process &amp; Algorithm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4300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Start with D⁰: edge weights, 0 on the diagonal, ∞ where no edge exists.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3794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Pick an intermediate vertex k = 1, 2, …, V in turn.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3288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For every pair (i, j) test whether i→k→j is shorter than i→j.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2278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If shorter, update D[i][j]; otherwise keep it.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92277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After k = V, the matrix holds all-pairs shortest distances.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143000"/>
            <a:ext cx="3749040" cy="35204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PSEUDOCODE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FLOYD-WARSHALL(W, 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= 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k = 1 to 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= 1 to 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 j = 1 to 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D[i][k]+D[k][j] &lt; D[i][j]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D[i][j] = D[i][k]+D[k][j]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Distance Matrix Updates: D⁰ → D⁴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D⁰ initial</a:t>
            </a:r>
            <a:endParaRPr lang="en-US" sz="11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1709928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347472"/>
                <a:gridCol w="347472"/>
                <a:gridCol w="347472"/>
                <a:gridCol w="347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2029968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D¹ via vertex 1</a:t>
            </a:r>
            <a:endParaRPr lang="en-US" sz="11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29968" y="1417320"/>
          <a:ext cx="1709928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347472"/>
                <a:gridCol w="347472"/>
                <a:gridCol w="347472"/>
                <a:gridCol w="347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3785616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D² via vertex 2</a:t>
            </a:r>
            <a:endParaRPr lang="en-US" sz="115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85616" y="1417320"/>
          <a:ext cx="1709928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347472"/>
                <a:gridCol w="347472"/>
                <a:gridCol w="347472"/>
                <a:gridCol w="347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5541264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D³ via vertex 3</a:t>
            </a:r>
            <a:endParaRPr lang="en-US" sz="1150" dirty="0"/>
          </a:p>
        </p:txBody>
      </p:sp>
      <p:graphicFrame>
        <p:nvGraphicFramePr>
          <p:cNvPr id="6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41264" y="1417320"/>
          <a:ext cx="1709928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347472"/>
                <a:gridCol w="347472"/>
                <a:gridCol w="347472"/>
                <a:gridCol w="347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7296912" y="1097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2A44"/>
                </a:solidFill>
              </a:rPr>
              <a:t>D⁴ via vertex 4</a:t>
            </a:r>
            <a:endParaRPr lang="en-US" sz="1150" dirty="0"/>
          </a:p>
        </p:txBody>
      </p:sp>
      <p:graphicFrame>
        <p:nvGraphicFramePr>
          <p:cNvPr id="7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96912" y="1417320"/>
          <a:ext cx="1709928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347472"/>
                <a:gridCol w="347472"/>
                <a:gridCol w="347472"/>
                <a:gridCol w="3474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1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6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</a:rPr>
              <a:t>Orange cells improved by routing through vertex k. Row k and column k never change in iteration k.</a:t>
            </a:r>
            <a:endParaRPr lang="en-US" sz="1200" dirty="0"/>
          </a:p>
        </p:txBody>
      </p:sp>
      <p:sp>
        <p:nvSpPr>
          <p:cNvPr id="14" name="Text 7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9D8A"/>
                </a:solidFill>
              </a:rPr>
              <a:t>D[i][j] = min( D[i][j],  D[i][k] + D[k][j] 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Changed in Each Iteration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64008" cy="1508760"/>
          </a:xfrm>
          <a:prstGeom prst="rect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9D8A"/>
                </a:solidFill>
              </a:rPr>
              <a:t>k = 1 (via vertex 1)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D[2][4]: ∞ → 15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D[3][2]: ∞ → 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D[4][2]: ∞ → 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64008" cy="1508760"/>
          </a:xfrm>
          <a:prstGeom prst="rect">
            <a:avLst/>
          </a:prstGeom>
          <a:solidFill>
            <a:srgbClr val="3B6FD4"/>
          </a:solidFill>
          <a:ln w="12700">
            <a:solidFill>
              <a:srgbClr val="3B6FD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6FD4"/>
                </a:solidFill>
              </a:rPr>
              <a:t>k = 2 (via vertex 2)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D[1][3]: ∞ →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D[4][3]: ∞ → 7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88920"/>
            <a:ext cx="64008" cy="1508760"/>
          </a:xfrm>
          <a:prstGeom prst="rect">
            <a:avLst/>
          </a:prstGeom>
          <a:solidFill>
            <a:srgbClr val="E8912D"/>
          </a:solidFill>
          <a:ln w="12700">
            <a:solidFill>
              <a:srgbClr val="E891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12D"/>
                </a:solidFill>
              </a:rPr>
              <a:t>k = 3 (via vertex 3)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004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D[1][4]: 7 → 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D[2][1]: 8 → 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D[2][4]: 15 → 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788920"/>
            <a:ext cx="40233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788920"/>
            <a:ext cx="64008" cy="1508760"/>
          </a:xfrm>
          <a:prstGeom prst="rect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46320" y="2880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</a:rPr>
              <a:t>k = 4 (via vertex 4)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0040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D[2][1]: 7 → 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D[3][1]: 5 →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44"/>
                </a:solidFill>
              </a:rPr>
              <a:t>D[3][2]: 8 → 6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</a:rPr>
              <a:t>D⁴ is final: every entry is the shortest distance between that pair of vertices.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9D8A"/>
                </a:solidFill>
              </a:rPr>
              <a:t>UNIT IV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Unit IV – Backtracking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9E5"/>
                </a:solidFill>
              </a:rPr>
              <a:t>Draw the state space tree for subset sum = 15 from {5, 10, 12}.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5669280" cy="457200"/>
          </a:xfrm>
          <a:prstGeom prst="round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Project: Sum of Subsets Tree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 of Subsets: Concept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Problem: from a set of positive numbers, find every subset whose elements add up to the target 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Backtracking builds a state-space tree. At each level we decide to include or exclude one element.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Prune a branch when it can never reach M: sum already exceeds M, or sum + remaining elements is still less than M.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For {5, 10, 12} and M = 15, the only solution is {5, 10}.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14300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TIME COMPLEXITY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4475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O(2ⁿ) worst case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202311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209626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SPACE COMPLEXITY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32486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O(n) recursion depth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290322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29763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STATE-SPACE TREE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20497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2ⁿ⁺¹ − 1 nodes max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378333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385648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TECHNIQUE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408508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Backtracking + bounding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 of Subsets: Process &amp; Algorithm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4300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Start at the root with sum = 0 and all elements remaining.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3794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Left branch: include the next element and add it to the sum.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3288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Right branch: exclude the next element.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2278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Prune if sum &gt; M or sum + remaining &lt; 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92277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If sum = M, record the subset; otherwise backtrack.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143000"/>
            <a:ext cx="3749040" cy="35204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PSEUDOCODE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SUBSET-SUM(i, sum, rem)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sum ==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 chosen subset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i &gt; n or sum &gt;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or sum + rem &lt;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          // prune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include w[i]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SUBSET-SUM(i+1, sum+w[i], rem-w[i])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exclude w[i]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SUBSET-SUM(i+1, sum, rem-w[i])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State-Space Tree: Elements {5, 10, 12}, M = 15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flipH="1">
            <a:off x="2560320" y="1600200"/>
            <a:ext cx="201168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91840" y="170535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+5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0" y="1600200"/>
            <a:ext cx="201168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03520" y="170535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−5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 flipH="1">
            <a:off x="1645920" y="2468880"/>
            <a:ext cx="91440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28800" y="257403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+10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468880"/>
            <a:ext cx="91440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257403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−10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 flipH="1">
            <a:off x="5669280" y="2468880"/>
            <a:ext cx="91440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52160" y="257403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+10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2468880"/>
            <a:ext cx="91440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66560" y="257403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−10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2926080" y="3337560"/>
            <a:ext cx="54864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926080" y="344271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+12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3337560"/>
            <a:ext cx="54864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74720" y="344271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−12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 flipH="1">
            <a:off x="5120640" y="3337560"/>
            <a:ext cx="54864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20640" y="344271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+12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3337560"/>
            <a:ext cx="548640" cy="411480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0" y="3442716"/>
            <a:ext cx="548640" cy="201168"/>
          </a:xfrm>
          <a:prstGeom prst="rect">
            <a:avLst/>
          </a:prstGeom>
          <a:solidFill>
            <a:srgbClr val="F4F6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−12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114300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1F2A44"/>
          </a:solidFill>
          <a:ln w="12700">
            <a:solidFill>
              <a:srgbClr val="1F2A4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03120" y="201168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26480" y="201168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88720" y="288036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 w="12700">
            <a:solidFill>
              <a:srgbClr val="2E9E5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15 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017520" y="288036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88036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10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288036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0 ✗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74904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17 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66160" y="374904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5B6575"/>
          </a:solidFill>
          <a:ln w="12700">
            <a:solidFill>
              <a:srgbClr val="5B657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74904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22 ✗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0" y="3749040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5B6575"/>
          </a:solidFill>
          <a:ln w="12700">
            <a:solidFill>
              <a:srgbClr val="5B657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 = 10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91440" y="21488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Decide 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1440" y="30175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Decide 10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1440" y="388620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575"/>
                </a:solidFill>
              </a:rPr>
              <a:t>Decide 12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</a:rPr>
              <a:t>+x include x    −x exclude x    ✓ solution {5, 10}    ✗ pruned (sum &gt; 15, or sum + remaining &lt; 15)    gray = dead end (sum ≠ 15)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Reading the Tree: Every Branch Explained</a:t>
            </a:r>
            <a:endParaRPr lang="en-US" sz="2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88720"/>
                <a:gridCol w="4114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Branch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{5, 10}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9E5B"/>
                          </a:solidFill>
                        </a:rPr>
                        <a:t>Solution found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{5, 12}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</a:rPr>
                        <a:t>Pruned: sum &gt; 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{5}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575"/>
                          </a:solidFill>
                        </a:rPr>
                        <a:t>Dead end: sum ≠ 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{10, 12}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</a:rPr>
                        <a:t>Pruned: sum &gt; 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{10}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575"/>
                          </a:solidFill>
                        </a:rPr>
                        <a:t>Dead end: sum ≠ 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{ } (skip 5 and 10)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64545"/>
                          </a:solidFill>
                        </a:rPr>
                        <a:t>Pruned: 0 + 12 &lt; 15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9E5B"/>
                </a:solidFill>
              </a:rPr>
              <a:t>Answer: the subset {5, 10} sums to 15. Pruning avoided exploring the 12-branches that could not succeed, so the tree has 11 nodes instead of the full 15.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914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F9D8A"/>
                </a:solidFill>
              </a:rPr>
              <a:t>UNIT V</a:t>
            </a:r>
            <a:endParaRPr lang="en-US" sz="16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Unit V – Branch and Bound</a:t>
            </a: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FE9E5"/>
                </a:solidFill>
              </a:rPr>
              <a:t>Draw a search tree showing bounding and pruning for TSP with 4 cities.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5669280" cy="457200"/>
          </a:xfrm>
          <a:prstGeom prst="roundRect">
            <a:avLst>
              <a:gd name="adj" fmla="val 20000"/>
            </a:avLst>
          </a:prstGeom>
          <a:solidFill>
            <a:srgbClr val="0F9D8A"/>
          </a:solidFill>
          <a:ln w="12700">
            <a:solidFill>
              <a:srgbClr val="0F9D8A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Project: TSP Branch-and-Bound Search Tree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TSP Branch and Bound: Concept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502920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B8C0C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Travelling Salesperson Problem: find the cheapest tour that visits every city exactly once and returns to the start.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Branch: extend a partial tour by one unvisited city, forming a search tree.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Bound: compute a lower bound on the cost of any tour that extends the partial tour.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44"/>
                </a:solidFill>
              </a:rPr>
              <a:t>Prune: discard a node whose lower bound is not better than the best complete tour found so far.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114300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897880" y="12161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TIME COMPLEXITY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897880" y="144475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O(n!) worst case, far less in practice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60720" y="202311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897880" y="209626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SPACE COMPLEXITY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232486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O(n) DFS; larger for best-first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60720" y="290322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897880" y="297637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BOUND COST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897880" y="320497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O(n) per node (min-edge sums)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760720" y="3783330"/>
            <a:ext cx="2926080" cy="770382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897880" y="385648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FD8D0"/>
                </a:solidFill>
              </a:rPr>
              <a:t>TECHNIQUE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897880" y="4085082"/>
            <a:ext cx="2651760" cy="404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Branch and bound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TSP Branch and Bound: Process &amp; Algorithm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143000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Start at city 1 with best = ∞.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83664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83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1837944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Branch: create a child for each unvisited city.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2532888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Bound: cost so far + cheapest outgoing edge of the current and unvisited cities.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227832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Prune any node whose bound is ≥ best.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968496"/>
            <a:ext cx="365760" cy="365760"/>
          </a:xfrm>
          <a:prstGeom prst="ellipse">
            <a:avLst/>
          </a:prstGeom>
          <a:solidFill>
            <a:srgbClr val="0F9D8A"/>
          </a:solidFill>
          <a:ln w="12700">
            <a:solidFill>
              <a:srgbClr val="0F9D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9684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922776"/>
            <a:ext cx="3749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</a:rPr>
              <a:t>At a full tour, add the return edge and update best.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937760" y="1143000"/>
            <a:ext cx="3749040" cy="352044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20640" y="12618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9D8A"/>
                </a:solidFill>
              </a:rPr>
              <a:t>PSEUDOCODE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120640" y="1600200"/>
            <a:ext cx="34747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= INF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= { root: city 1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queue not empty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node = pop least bound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node.bound &gt;= best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continue            // prune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each unvisited city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 = node + 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child.bound = LB(child)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child is full tour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best = min(best, cost)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child.bound &lt; best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push child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Search Tree with Bounds (4 cities, LB = lower bound)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 flipH="1">
            <a:off x="1828800" y="1618488"/>
            <a:ext cx="2743200" cy="28346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618488"/>
            <a:ext cx="0" cy="28346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618488"/>
            <a:ext cx="2743200" cy="28346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H="1">
            <a:off x="1188720" y="2395728"/>
            <a:ext cx="640080" cy="37490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2395728"/>
            <a:ext cx="640080" cy="37490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H="1">
            <a:off x="3931920" y="2395728"/>
            <a:ext cx="640080" cy="37490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395728"/>
            <a:ext cx="640080" cy="37490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6675120" y="2395728"/>
            <a:ext cx="640080" cy="37490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0" y="2395728"/>
            <a:ext cx="640080" cy="37490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3264408"/>
            <a:ext cx="0" cy="420624"/>
          </a:xfrm>
          <a:prstGeom prst="line">
            <a:avLst/>
          </a:prstGeom>
          <a:noFill/>
          <a:ln w="19050">
            <a:solidFill>
              <a:srgbClr val="5B65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86200" y="1124712"/>
            <a:ext cx="1371600" cy="493776"/>
          </a:xfrm>
          <a:prstGeom prst="roundRect">
            <a:avLst>
              <a:gd name="adj" fmla="val 18519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Root: city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LB 55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" y="1901952"/>
            <a:ext cx="1371600" cy="493776"/>
          </a:xfrm>
          <a:prstGeom prst="roundRect">
            <a:avLst>
              <a:gd name="adj" fmla="val 18519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1→2  LB 55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86200" y="1901952"/>
            <a:ext cx="1371600" cy="493776"/>
          </a:xfrm>
          <a:prstGeom prst="roundRect">
            <a:avLst>
              <a:gd name="adj" fmla="val 18519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1→3  LB 60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9400" y="1901952"/>
            <a:ext cx="1371600" cy="493776"/>
          </a:xfrm>
          <a:prstGeom prst="roundRect">
            <a:avLst>
              <a:gd name="adj" fmla="val 18519"/>
            </a:avLst>
          </a:prstGeom>
          <a:solidFill>
            <a:srgbClr val="3B6FD4"/>
          </a:solidFill>
          <a:ln w="12700">
            <a:solidFill>
              <a:srgbClr val="3B6FD4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1→4  LB 65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770632"/>
            <a:ext cx="1097280" cy="493776"/>
          </a:xfrm>
          <a:prstGeom prst="roundRect">
            <a:avLst>
              <a:gd name="adj" fmla="val 18519"/>
            </a:avLst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1→2→3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LB 80 ✗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770632"/>
            <a:ext cx="1097280" cy="493776"/>
          </a:xfrm>
          <a:prstGeom prst="roundRect">
            <a:avLst>
              <a:gd name="adj" fmla="val 18519"/>
            </a:avLst>
          </a:prstGeom>
          <a:solidFill>
            <a:srgbClr val="2E9E5B"/>
          </a:solidFill>
          <a:ln w="12700">
            <a:solidFill>
              <a:srgbClr val="2E9E5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1→2→4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LB 70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770632"/>
            <a:ext cx="1097280" cy="493776"/>
          </a:xfrm>
          <a:prstGeom prst="roundRect">
            <a:avLst>
              <a:gd name="adj" fmla="val 18519"/>
            </a:avLst>
          </a:prstGeom>
          <a:solidFill>
            <a:srgbClr val="D64545"/>
          </a:solidFill>
          <a:ln w="12700">
            <a:solidFill>
              <a:srgbClr val="D64545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1→3→2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LB 80 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770632"/>
            <a:ext cx="1097280" cy="493776"/>
          </a:xfrm>
          <a:prstGeom prst="roundRect">
            <a:avLst>
              <a:gd name="adj" fmla="val 18519"/>
            </a:avLst>
          </a:prstGeom>
          <a:solidFill>
            <a:srgbClr val="E8912D"/>
          </a:solidFill>
          <a:ln w="12700">
            <a:solidFill>
              <a:srgbClr val="E8912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1→3→4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LB 75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26480" y="2770632"/>
            <a:ext cx="1097280" cy="493776"/>
          </a:xfrm>
          <a:prstGeom prst="roundRect">
            <a:avLst>
              <a:gd name="adj" fmla="val 18519"/>
            </a:avLst>
          </a:prstGeom>
          <a:solidFill>
            <a:srgbClr val="E8912D"/>
          </a:solidFill>
          <a:ln w="12700">
            <a:solidFill>
              <a:srgbClr val="E8912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1→4→2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LB 70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2770632"/>
            <a:ext cx="1097280" cy="493776"/>
          </a:xfrm>
          <a:prstGeom prst="roundRect">
            <a:avLst>
              <a:gd name="adj" fmla="val 18519"/>
            </a:avLst>
          </a:prstGeom>
          <a:solidFill>
            <a:srgbClr val="E8912D"/>
          </a:solidFill>
          <a:ln w="12700">
            <a:solidFill>
              <a:srgbClr val="E8912D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1→4→3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LB 75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00200" y="3685032"/>
            <a:ext cx="1737360" cy="493776"/>
          </a:xfrm>
          <a:prstGeom prst="roundRect">
            <a:avLst>
              <a:gd name="adj" fmla="val 18519"/>
            </a:avLst>
          </a:prstGeom>
          <a:solidFill>
            <a:srgbClr val="2E9E5B"/>
          </a:solidFill>
          <a:ln w="12700">
            <a:solidFill>
              <a:srgbClr val="2E9E5B"/>
            </a:solidFill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1→2→4→3→1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Cost 80  BEST ★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75"/>
                </a:solidFill>
              </a:rPr>
              <a:t>Blue: expanded    Green: leads to optimal tour    Amber: expanded, tours cost ≥ 80 (no gain)    Red: pruned (LB ≥ best = 80)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38404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F2A44"/>
                </a:solidFill>
              </a:rPr>
              <a:t>Once a tour of cost 80 is known, every node with LB ≥ 80 is cut off.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Bound Calculation &amp; Optimal Tour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A44"/>
                </a:solidFill>
              </a:rPr>
              <a:t>Cost matrix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251460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502920"/>
                <a:gridCol w="502920"/>
                <a:gridCol w="502920"/>
                <a:gridCol w="502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25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∞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429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</a:rPr>
              <a:t>Cheapest outgoing edge per city: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</a:rPr>
              <a:t>1 → 10, 2 → 10, 3 → 15, 4 → 20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3291840" y="1097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</a:rPr>
              <a:t>LB = cost so far + cheapest outgoing edge of the current city and every unvisited city</a:t>
            </a:r>
            <a:endParaRPr lang="en-US" sz="125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645920"/>
          <a:ext cx="53949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2286000"/>
                <a:gridCol w="73152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Node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Cost so far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Remaining min edges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LB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Root (1)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10+10+15+20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1→2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10+15+20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55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1→3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15+10+20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1→4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20+10+15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65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1→2→4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35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20+15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70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1→2→3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45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</a:rPr>
                        <a:t>15+20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</a:rPr>
                        <a:t>80</a:t>
                      </a:r>
                      <a:endParaRPr lang="en-US" sz="11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3291840" y="39776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9E5B"/>
                </a:solidFill>
              </a:rPr>
              <a:t>Optimal tour: 1 → 2 → 4 → 3 → 1 with cost 10 + 25 + 30 + 15 = 80 (its reverse 1 → 3 → 4 → 2 → 1 also costs 80).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of the Five Projects</a:t>
            </a:r>
            <a:endParaRPr lang="en-US" sz="24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2194560"/>
                <a:gridCol w="1645920"/>
                <a:gridCol w="128016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Unit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Project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Technique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Merge Sort recursion tree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Divide &amp; conquer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O(n log n)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Split/merge tree, 4 levels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Job sequencing flowchart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Greedy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O(n²)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Schedule J3, J1, J5; profit 142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III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Floyd–Warshall matrices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Dynamic programming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O(V³)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D⁰ → D⁴ shortest distances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Sum of subsets tree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Backtracking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O(2ⁿ)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Subset {5, 10} = 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TSP branch and bound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Branch &amp; bound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O(n!) worst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Best tour cost 80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8C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575"/>
                </a:solidFill>
              </a:rPr>
              <a:t>Each project: algorithm and pseudocode, complexity analysis, and an AI-generated diagram that shows the technique at work.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57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Macro Projects</dc:title>
  <dc:subject>PptxGenJS Presentation</dc:subject>
  <dc:creator>PptxGenJS</dc:creator>
  <cp:lastModifiedBy>PptxGenJS</cp:lastModifiedBy>
  <cp:revision>1</cp:revision>
  <dcterms:created xsi:type="dcterms:W3CDTF">2026-10-22T06:41:23Z</dcterms:created>
  <dcterms:modified xsi:type="dcterms:W3CDTF">2026-10-22T06:41:23Z</dcterms:modified>
</cp:coreProperties>
</file>